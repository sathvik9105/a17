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9dfb0b3b6d47fb" /><Relationship Type="http://schemas.openxmlformats.org/officeDocument/2006/relationships/extended-properties" Target="/docProps/app.xml" Id="R709711c858334dab" /><Relationship Type="http://schemas.openxmlformats.org/officeDocument/2006/relationships/officeDocument" Target="/ppt/presentation.xml" Id="R6defa0b822e34e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3dd0179dab492d"/>
  </p:sldMasterIdLst>
  <p:notesMasterIdLst>
    <p:notesMasterId xmlns:r="http://schemas.openxmlformats.org/officeDocument/2006/relationships" r:id="Rdae85926fbd34fb7"/>
  </p:notesMasterIdLst>
  <p:sldIdLst>
    <p:sldId xmlns:r="http://schemas.openxmlformats.org/officeDocument/2006/relationships" id="256" r:id="R44c12b9bd3f84b5e"/>
    <p:sldId xmlns:r="http://schemas.openxmlformats.org/officeDocument/2006/relationships" id="257" r:id="Rb9c1c1732d81481d"/>
    <p:sldId xmlns:r="http://schemas.openxmlformats.org/officeDocument/2006/relationships" id="258" r:id="Rd56cb5a27aff4a08"/>
    <p:sldId xmlns:r="http://schemas.openxmlformats.org/officeDocument/2006/relationships" id="259" r:id="R464b40f43aa74f1a"/>
    <p:sldId xmlns:r="http://schemas.openxmlformats.org/officeDocument/2006/relationships" id="260" r:id="R7e61e26aaa2e48fe"/>
    <p:sldId xmlns:r="http://schemas.openxmlformats.org/officeDocument/2006/relationships" id="261" r:id="R99c913db34df45ac"/>
    <p:sldId xmlns:r="http://schemas.openxmlformats.org/officeDocument/2006/relationships" id="262" r:id="Rd63341f285ab40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dc77462d87481c" /><Relationship Type="http://schemas.openxmlformats.org/officeDocument/2006/relationships/slideMaster" Target="/ppt/slideMasters/slideMaster1.xml" Id="Ra83dd0179dab492d" /><Relationship Type="http://schemas.openxmlformats.org/officeDocument/2006/relationships/notesMaster" Target="/ppt/notesMasters/notesMaster1.xml" Id="Rdae85926fbd34fb7" /><Relationship Type="http://schemas.openxmlformats.org/officeDocument/2006/relationships/presProps" Target="/ppt/presProps.xml" Id="R0f8052af32da4be4" /><Relationship Type="http://schemas.openxmlformats.org/officeDocument/2006/relationships/tableStyles" Target="/ppt/tableStyles.xml" Id="R052053392c0c48d6" /><Relationship Type="http://schemas.openxmlformats.org/officeDocument/2006/relationships/slide" Target="/ppt/slides/slide1.xml" Id="R44c12b9bd3f84b5e" /><Relationship Type="http://schemas.openxmlformats.org/officeDocument/2006/relationships/slide" Target="/ppt/slides/slide2.xml" Id="Rb9c1c1732d81481d" /><Relationship Type="http://schemas.openxmlformats.org/officeDocument/2006/relationships/slide" Target="/ppt/slides/slide3.xml" Id="Rd56cb5a27aff4a08" /><Relationship Type="http://schemas.openxmlformats.org/officeDocument/2006/relationships/slide" Target="/ppt/slides/slide4.xml" Id="R464b40f43aa74f1a" /><Relationship Type="http://schemas.openxmlformats.org/officeDocument/2006/relationships/slide" Target="/ppt/slides/slide5.xml" Id="R7e61e26aaa2e48fe" /><Relationship Type="http://schemas.openxmlformats.org/officeDocument/2006/relationships/slide" Target="/ppt/slides/slide6.xml" Id="R99c913db34df45ac" /><Relationship Type="http://schemas.openxmlformats.org/officeDocument/2006/relationships/slide" Target="/ppt/slides/slide7.xml" Id="Rd63341f285ab40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693e596cb94e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8789bd0b384f97" /><Relationship Type="http://schemas.openxmlformats.org/officeDocument/2006/relationships/notesMaster" Target="/ppt/notesMasters/notesMaster1.xml" Id="R40d736733fe244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7914d697d44299" /><Relationship Type="http://schemas.openxmlformats.org/officeDocument/2006/relationships/notesMaster" Target="/ppt/notesMasters/notesMaster1.xml" Id="R703178815ab64a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e60fcb262b45a2" /><Relationship Type="http://schemas.openxmlformats.org/officeDocument/2006/relationships/notesMaster" Target="/ppt/notesMasters/notesMaster1.xml" Id="R73c4587a44e84b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5b69f9cef44384" /><Relationship Type="http://schemas.openxmlformats.org/officeDocument/2006/relationships/notesMaster" Target="/ppt/notesMasters/notesMaster1.xml" Id="R48f9382e32ad43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b5de7ce8c04119" /><Relationship Type="http://schemas.openxmlformats.org/officeDocument/2006/relationships/notesMaster" Target="/ppt/notesMasters/notesMaster1.xml" Id="R5f99a0bfad604e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e813c83f8b4aaf" /><Relationship Type="http://schemas.openxmlformats.org/officeDocument/2006/relationships/notesMaster" Target="/ppt/notesMasters/notesMaster1.xml" Id="Ra6939a7929a74c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c66cd1011c4bef" /><Relationship Type="http://schemas.openxmlformats.org/officeDocument/2006/relationships/notesMaster" Target="/ppt/notesMasters/notesMaster1.xml" Id="Re578d1ad1f2a46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f10e8c24fe409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162e2e139640c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8dcbde99044c2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52db7ace8f415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d63d28bbb7476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f5f36c84ff4e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A3FD81-41E5-444F-B38C-8CC7726550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6E893AB-0938-4541-8ABE-44AEB8219D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084D00D-B54A-429E-920D-2067874BF6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8FD143-4C48-4CFD-8279-917EB30EEF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30CFEFF-50AE-41C9-83F5-83F091D50E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9253788-BCDB-49D2-93A3-C11BA7768C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2749EA8-8D3A-47C9-A963-35D318A1AE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2CAC147-DBFF-4C3E-A667-3FABA16A078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311D9B-515A-456F-80D9-E79DC5E068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45A4CD-01DF-4076-BD4C-6175CBA862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9be8fd26354f14" /><Relationship Type="http://schemas.openxmlformats.org/officeDocument/2006/relationships/slideLayout" Target="/ppt/slideLayouts/slideLayout1.xml" Id="Rb73a6fc1098d49b8" /><Relationship Type="http://schemas.openxmlformats.org/officeDocument/2006/relationships/slideLayout" Target="/ppt/slideLayouts/slideLayout2.xml" Id="R0192ceaf490f4d36" /><Relationship Type="http://schemas.openxmlformats.org/officeDocument/2006/relationships/slideLayout" Target="/ppt/slideLayouts/slideLayout3.xml" Id="R43e7af715c5a4ba5" /><Relationship Type="http://schemas.openxmlformats.org/officeDocument/2006/relationships/slideLayout" Target="/ppt/slideLayouts/slideLayout4.xml" Id="R8b8d541f11ca4f3e" /><Relationship Type="http://schemas.openxmlformats.org/officeDocument/2006/relationships/slideLayout" Target="/ppt/slideLayouts/slideLayout5.xml" Id="R4abe860cb1084340" /><Relationship Type="http://schemas.openxmlformats.org/officeDocument/2006/relationships/slideLayout" Target="/ppt/slideLayouts/slideLayout6.xml" Id="R0ddaa7f7e34b49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3a6fc1098d49b8"/>
    <p:sldLayoutId xmlns:r="http://schemas.openxmlformats.org/officeDocument/2006/relationships" id="2147483650" r:id="R0192ceaf490f4d36"/>
    <p:sldLayoutId xmlns:r="http://schemas.openxmlformats.org/officeDocument/2006/relationships" id="2147483651" r:id="R43e7af715c5a4ba5"/>
    <p:sldLayoutId xmlns:r="http://schemas.openxmlformats.org/officeDocument/2006/relationships" id="2147483652" r:id="R8b8d541f11ca4f3e"/>
    <p:sldLayoutId xmlns:r="http://schemas.openxmlformats.org/officeDocument/2006/relationships" id="2147483653" r:id="R4abe860cb1084340"/>
    <p:sldLayoutId xmlns:r="http://schemas.openxmlformats.org/officeDocument/2006/relationships" id="2147483654" r:id="R0ddaa7f7e34b49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0fa941d6ae4423" /><Relationship Type="http://schemas.openxmlformats.org/officeDocument/2006/relationships/notesSlide" Target="/ppt/notesSlides/notesSlide1.xml" Id="R48fa683021b44f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5f8833d1e941c9" /><Relationship Type="http://schemas.openxmlformats.org/officeDocument/2006/relationships/image" Target="/ppt/media/image.png" Id="Rba4dd253c1c54429" /><Relationship Type="http://schemas.openxmlformats.org/officeDocument/2006/relationships/notesSlide" Target="/ppt/notesSlides/notesSlide2.xml" Id="Rfabd0e7ab37f42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cd8520029846aa" /><Relationship Type="http://schemas.openxmlformats.org/officeDocument/2006/relationships/notesSlide" Target="/ppt/notesSlides/notesSlide3.xml" Id="Rd27bb054a00545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6a5ef4485a491e" /><Relationship Type="http://schemas.openxmlformats.org/officeDocument/2006/relationships/image" Target="/ppt/media/image2.png" Id="Rfc58508a3b2945ab" /><Relationship Type="http://schemas.openxmlformats.org/officeDocument/2006/relationships/notesSlide" Target="/ppt/notesSlides/notesSlide4.xml" Id="Rc9c811249ce640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83ec29e8654132" /><Relationship Type="http://schemas.openxmlformats.org/officeDocument/2006/relationships/image" Target="/ppt/media/image3.png" Id="R3eefae59b4354729" /><Relationship Type="http://schemas.openxmlformats.org/officeDocument/2006/relationships/notesSlide" Target="/ppt/notesSlides/notesSlide5.xml" Id="R4531636193b942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d971c7ab274de3" /><Relationship Type="http://schemas.openxmlformats.org/officeDocument/2006/relationships/notesSlide" Target="/ppt/notesSlides/notesSlide6.xml" Id="R2d080842ce0744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ee36b6985f4391" /><Relationship Type="http://schemas.openxmlformats.org/officeDocument/2006/relationships/notesSlide" Target="/ppt/notesSlides/notesSlide7.xml" Id="R299212d5603446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9DB04-0651-41CF-A85C-D0CC3137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Design patterns in PlantUML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433FD3-7B3C-4B72-9C8E-B626E8BE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4B5563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4B5563"/>
                </a:solidFill>
              </a:defRPr>
            </a:pPr>
            <a:r>
              <a:rPr sz="2175" b="0">
                <a:solidFill>
                  <a:srgbClr val="4B5563"/>
                </a:solidFill>
              </a:rPr>
              <a:t>Class-diagram parsing, rendering and controlled evolution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777DF-66AB-4BEB-9FAA-2A532E65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A35425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A35425"/>
                </a:solidFill>
              </a:defRPr>
            </a:pPr>
            <a:r>
              <a:rPr sz="1575" b="0">
                <a:solidFill>
                  <a:srgbClr val="A35425"/>
                </a:solidFill>
              </a:rPr>
              <a:t>23CSE455 · Team A17 · 11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A4CFB-6E85-4820-A2AF-57C617C2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B556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Sathvik Pasuvula · P Sai Satvik Chowdary</a:t>
            </a:r>
          </a:p>
        </p:txBody>
      </p:sp>
    </p:spTree>
    <p:extLst>
      <p:ext uri="{BB962C8B-B14F-4D97-AF65-F5344CB8AC3E}">
        <p14:creationId xmlns:p14="http://schemas.microsoft.com/office/powerpoint/2010/main" val="49652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BE51F-EA0B-48B4-BD69-43FA40FA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The path from text to SVG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72692D-8B1F-4BBA-8A5B-223D4CD3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B556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A17 · PlantUML v1.2026.8 · 2/7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D35DD-A664-49A9-94A5-B7FCDA06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45243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324D"/>
                </a:solidFill>
              </a:defRPr>
            </a:pPr>
            <a:r>
              <a:rPr sz="1950" b="0">
                <a:solidFill>
                  <a:srgbClr val="17324D"/>
                </a:solidFill>
              </a:rPr>
              <a:t>class Order</a:t>
            </a:r>
          </a:p>
          <a:p xmlns:a="http://schemas.openxmlformats.org/drawingml/2006/main">
            <a:pPr>
              <a:defRPr sz="1950" b="0">
                <a:solidFill>
                  <a:srgbClr val="17324D"/>
                </a:solidFill>
              </a:defRPr>
            </a:pPr>
            <a:r>
              <a:rPr sz="1950" b="0">
                <a:solidFill>
                  <a:srgbClr val="17324D"/>
                </a:solidFill>
              </a:rPr>
              <a:t>class Customer</a:t>
            </a:r>
          </a:p>
          <a:p xmlns:a="http://schemas.openxmlformats.org/drawingml/2006/main">
            <a:pPr>
              <a:defRPr sz="1950" b="0">
                <a:solidFill>
                  <a:srgbClr val="17324D"/>
                </a:solidFill>
              </a:defRPr>
            </a:pPr>
            <a:r>
              <a:rPr sz="1950" b="0">
                <a:solidFill>
                  <a:srgbClr val="17324D"/>
                </a:solidFill>
              </a:rPr>
              <a:t>Order --&gt; Customer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50935-AAD5-423B-AB71-C3FC7376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49530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B5563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B5563"/>
                </a:solidFill>
              </a:defRPr>
            </a:pPr>
            <a:r>
              <a:rPr sz="1875" b="0">
                <a:solidFill>
                  <a:srgbClr val="4B5563"/>
                </a:solidFill>
              </a:rPr>
              <a:t>The parser selects command objects. They construct Entity and Link objects in ClassDiagram. A layout backend returns a TextBlock, which the exporter draws to SVG or PNG.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CE485-352E-4511-BA78-9FEE33F8B3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4dd253c1c54429"/>
          <a:stretch xmlns:a="http://schemas.openxmlformats.org/drawingml/2006/main"/>
        </p:blipFill>
        <p:spPr>
          <a:xfrm xmlns:a="http://schemas.openxmlformats.org/drawingml/2006/main">
            <a:off x="8054802" y="1266825"/>
            <a:ext cx="1321146" cy="4800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4305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9C13A-7824-404B-8F88-8C69EBB5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Five source-verified collaborations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61574-28C6-4D95-A835-FEFA8147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B556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A17 · PlantUML v1.2026.8 · 3/7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AF8B8-C105-42CC-A3A0-48818C31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62100"/>
            <a:ext cx="3429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24D"/>
                </a:solidFill>
              </a:defRPr>
            </a:pPr>
            <a:r>
              <a:rPr sz="2400" b="1">
                <a:solidFill>
                  <a:srgbClr val="17324D"/>
                </a:solidFill>
              </a:rPr>
              <a:t>Command</a:t>
            </a:r>
          </a:p>
          <a:p xmlns:a="http://schemas.openxmlformats.org/drawingml/2006/main">
            <a:pPr>
              <a:defRPr sz="2400" b="1">
                <a:solidFill>
                  <a:srgbClr val="17324D"/>
                </a:solidFill>
              </a:defRPr>
            </a:pPr>
            <a:r>
              <a:rPr sz="2400" b="1">
                <a:solidFill>
                  <a:srgbClr val="17324D"/>
                </a:solidFill>
              </a:rPr>
              <a:t>Factory Method</a:t>
            </a:r>
          </a:p>
          <a:p xmlns:a="http://schemas.openxmlformats.org/drawingml/2006/main">
            <a:pPr>
              <a:defRPr sz="2400" b="1">
                <a:solidFill>
                  <a:srgbClr val="17324D"/>
                </a:solidFill>
              </a:defRPr>
            </a:pPr>
            <a:r>
              <a:rPr sz="2400" b="1">
                <a:solidFill>
                  <a:srgbClr val="17324D"/>
                </a:solidFill>
              </a:rPr>
              <a:t>Strategy</a:t>
            </a:r>
          </a:p>
          <a:p xmlns:a="http://schemas.openxmlformats.org/drawingml/2006/main">
            <a:pPr>
              <a:defRPr sz="2400" b="1">
                <a:solidFill>
                  <a:srgbClr val="17324D"/>
                </a:solidFill>
              </a:defRPr>
            </a:pPr>
            <a:r>
              <a:rPr sz="2400" b="1">
                <a:solidFill>
                  <a:srgbClr val="17324D"/>
                </a:solidFill>
              </a:rPr>
              <a:t>Composite</a:t>
            </a:r>
          </a:p>
          <a:p xmlns:a="http://schemas.openxmlformats.org/drawingml/2006/main">
            <a:pPr>
              <a:defRPr sz="2400" b="1">
                <a:solidFill>
                  <a:srgbClr val="17324D"/>
                </a:solidFill>
              </a:defRPr>
            </a:pPr>
            <a:r>
              <a:rPr sz="2400" b="1">
                <a:solidFill>
                  <a:srgbClr val="17324D"/>
                </a:solidFill>
              </a:rPr>
              <a:t>Adapter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809FB-7084-41F9-B1F9-06E9C717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581150"/>
            <a:ext cx="6667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4B556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4B5563"/>
                </a:solidFill>
              </a:defRPr>
            </a:pPr>
            <a:r>
              <a:rPr sz="2250" b="0">
                <a:solidFill>
                  <a:srgbClr val="4B5563"/>
                </a:solidFill>
              </a:rPr>
              <a:t>Class command dispatch</a:t>
            </a:r>
          </a:p>
          <a:p xmlns:a="http://schemas.openxmlformats.org/drawingml/2006/main">
            <a:pPr>
              <a:defRPr sz="2250" b="0">
                <a:solidFill>
                  <a:srgbClr val="4B5563"/>
                </a:solidFill>
              </a:defRPr>
            </a:pPr>
            <a:r>
              <a:rPr sz="2250" b="0">
                <a:solidFill>
                  <a:srgbClr val="4B5563"/>
                </a:solidFill>
              </a:rPr>
              <a:t>ClassDiagram product creation</a:t>
            </a:r>
          </a:p>
          <a:p xmlns:a="http://schemas.openxmlformats.org/drawingml/2006/main">
            <a:pPr>
              <a:defRPr sz="2250" b="0">
                <a:solidFill>
                  <a:srgbClr val="4B5563"/>
                </a:solidFill>
              </a:defRPr>
            </a:pPr>
            <a:r>
              <a:rPr sz="2250" b="0">
                <a:solidFill>
                  <a:srgbClr val="4B5563"/>
                </a:solidFill>
              </a:rPr>
              <a:t>Layout backend selection</a:t>
            </a:r>
          </a:p>
          <a:p xmlns:a="http://schemas.openxmlformats.org/drawingml/2006/main">
            <a:pPr>
              <a:defRPr sz="2250" b="0">
                <a:solidFill>
                  <a:srgbClr val="4B5563"/>
                </a:solidFill>
              </a:defRPr>
            </a:pPr>
            <a:r>
              <a:rPr sz="2250" b="0">
                <a:solidFill>
                  <a:srgbClr val="4B5563"/>
                </a:solidFill>
              </a:rPr>
              <a:t>Text-block composition</a:t>
            </a:r>
          </a:p>
          <a:p xmlns:a="http://schemas.openxmlformats.org/drawingml/2006/main">
            <a:pPr>
              <a:defRPr sz="2250" b="0">
                <a:solidFill>
                  <a:srgbClr val="4B5563"/>
                </a:solidFill>
              </a:defRPr>
            </a:pPr>
            <a:r>
              <a:rPr sz="2250" b="0">
                <a:solidFill>
                  <a:srgbClr val="4B5563"/>
                </a:solidFill>
              </a:rPr>
              <a:t>VizJs stream conversion</a:t>
            </a:r>
          </a:p>
        </p:txBody>
      </p:sp>
    </p:spTree>
    <p:extLst>
      <p:ext uri="{BB962C8B-B14F-4D97-AF65-F5344CB8AC3E}">
        <p14:creationId xmlns:p14="http://schemas.microsoft.com/office/powerpoint/2010/main" val="4511854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7ABA0-4AD0-4832-AE51-EFDF6ACE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Three implemented changes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BB6FD-F948-40FB-8099-8EB53D6B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B556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A17 · PlantUML v1.2026.8 · 4/7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39159-5606-421C-B2CE-0738527F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24D"/>
                </a:solidFill>
              </a:defRPr>
            </a:pPr>
            <a:r>
              <a:rPr sz="2250" b="1">
                <a:solidFill>
                  <a:srgbClr val="17324D"/>
                </a:solidFill>
              </a:rPr>
              <a:t>CH01  Review status</a:t>
            </a:r>
          </a:p>
          <a:p xmlns:a="http://schemas.openxmlformats.org/drawingml/2006/main">
            <a:pPr>
              <a:defRPr sz="2250" b="1">
                <a:solidFill>
                  <a:srgbClr val="17324D"/>
                </a:solidFill>
              </a:defRPr>
            </a:pPr>
            <a:r>
              <a:rPr sz="2250" b="1">
                <a:solidFill>
                  <a:srgbClr val="17324D"/>
                </a:solidFill>
              </a:rPr>
              <a:t>CH02  Review palette</a:t>
            </a:r>
          </a:p>
          <a:p xmlns:a="http://schemas.openxmlformats.org/drawingml/2006/main">
            <a:pPr>
              <a:defRPr sz="2250" b="1">
                <a:solidFill>
                  <a:srgbClr val="17324D"/>
                </a:solidFill>
              </a:defRPr>
            </a:pPr>
            <a:r>
              <a:rPr sz="2250" b="1">
                <a:solidFill>
                  <a:srgbClr val="17324D"/>
                </a:solidFill>
              </a:rPr>
              <a:t>CH03  SVG attribute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E7384-C3F5-4ECB-9AE7-C5970330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552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B5563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[review=pending] appears in the class header.</a:t>
            </a:r>
          </a:p>
          <a:p xmlns:a="http://schemas.openxmlformats.org/drawingml/2006/main">
            <a:pPr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Pastel and mono are selectable fill policies.</a:t>
            </a:r>
          </a:p>
          <a:p xmlns:a="http://schemas.openxmlformats.org/drawingml/2006/main">
            <a:pPr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Enabled SVG exports data-review-status.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9890E-5061-4B0A-9A0F-B8BE749277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58508a3b2945ab"/>
          <a:stretch xmlns:a="http://schemas.openxmlformats.org/drawingml/2006/main"/>
        </p:blipFill>
        <p:spPr>
          <a:xfrm xmlns:a="http://schemas.openxmlformats.org/drawingml/2006/main">
            <a:off x="7493807" y="2000250"/>
            <a:ext cx="3109886" cy="3162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791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280E9-4D4D-43FF-A263-F2EABEB9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The SVG serializer was a real extension 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74013C-A26C-44C7-BEB1-4D1DAD01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B556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A17 · PlantUML v1.2026.8 · 5/7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EBAE1-4DB3-49C2-90C7-18A5F3D55A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fae59b4354729"/>
          <a:stretch xmlns:a="http://schemas.openxmlformats.org/drawingml/2006/main"/>
        </p:blipFill>
        <p:spPr>
          <a:xfrm xmlns:a="http://schemas.openxmlformats.org/drawingml/2006/main">
            <a:off x="1983173" y="1409700"/>
            <a:ext cx="7987529" cy="3638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13B0B-E467-49E8-ABED-1DCEE9BC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9590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B556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The first metadata patch reached UGroup but produced no attribute. PortableSvgDocument accepts only named keys; adding the new key fixed the failing integration check.</a:t>
            </a:r>
          </a:p>
        </p:txBody>
      </p:sp>
    </p:spTree>
    <p:extLst>
      <p:ext uri="{BB962C8B-B14F-4D97-AF65-F5344CB8AC3E}">
        <p14:creationId xmlns:p14="http://schemas.microsoft.com/office/powerpoint/2010/main" val="13915127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E48E6-C25D-4037-9C49-5B74CA87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Equivalent behavior in four languages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68220C-9875-4C1E-81B2-53C0F8EE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B556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A17 · PlantUML v1.2026.8 · 6/7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E8C864-5C06-424A-83FA-97D48283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24D"/>
                </a:solidFill>
              </a:defRPr>
            </a:pPr>
            <a:r>
              <a:rPr sz="2250" b="1">
                <a:solidFill>
                  <a:srgbClr val="17324D"/>
                </a:solidFill>
              </a:rPr>
              <a:t>16 shared cases passed in each language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334B1-4CF5-4349-892B-E408BBCE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1066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</a:defRPr>
            </a:pPr>
            <a:r>
              <a:rPr sz="2025" b="0">
                <a:solidFill>
                  <a:srgbClr val="17324D"/>
                </a:solidFill>
              </a:rPr>
              <a:t>Java          106 LOC        27.206 ms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</a:defRPr>
            </a:pPr>
            <a:r>
              <a:rPr sz="2025" b="0">
                <a:solidFill>
                  <a:srgbClr val="17324D"/>
                </a:solidFill>
              </a:rPr>
              <a:t>Python      101 LOC        16.827 ms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</a:defRPr>
            </a:pPr>
            <a:r>
              <a:rPr sz="2025" b="0">
                <a:solidFill>
                  <a:srgbClr val="17324D"/>
                </a:solidFill>
              </a:rPr>
              <a:t>JavaScript   97 LOC        21.728 ms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</a:defRPr>
            </a:pPr>
            <a:r>
              <a:rPr sz="2025" b="0">
                <a:solidFill>
                  <a:srgbClr val="17324D"/>
                </a:solidFill>
              </a:rPr>
              <a:t>C++           156 LOC         2.279 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1F980-169C-4CD8-8618-642C3A8B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10200"/>
            <a:ext cx="10620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B556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Median of five fresh processes after one warm-up. Startup and input/output are included; compilation is excluded.</a:t>
            </a:r>
          </a:p>
        </p:txBody>
      </p:sp>
    </p:spTree>
    <p:extLst>
      <p:ext uri="{BB962C8B-B14F-4D97-AF65-F5344CB8AC3E}">
        <p14:creationId xmlns:p14="http://schemas.microsoft.com/office/powerpoint/2010/main" val="10097904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64B93-3637-4060-98EB-026BB719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Verification and submission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56D75-4503-4B23-8496-B36B0B6B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B556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A17 · PlantUML v1.2026.8 · 7/7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FF2D2-D2BC-4F6F-9519-4BA24D19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049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24D"/>
                </a:solidFill>
              </a:defRPr>
            </a:pPr>
            <a:r>
              <a:rPr sz="3600" b="1">
                <a:solidFill>
                  <a:srgbClr val="17324D"/>
                </a:solidFill>
              </a:rPr>
              <a:t>20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8A3F5-7FC1-4C77-9124-AF181F9C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28775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4B5563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4B5563"/>
                </a:solidFill>
              </a:defRPr>
            </a:pPr>
            <a:r>
              <a:rPr sz="1950" b="0">
                <a:solidFill>
                  <a:srgbClr val="4B5563"/>
                </a:solidFill>
              </a:rPr>
              <a:t>Final PlantUML integration checks passed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E27DE-D8FA-4BEA-A533-3C35AC20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955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A35425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A35425"/>
                </a:solidFill>
              </a:defRPr>
            </a:pPr>
            <a:r>
              <a:rPr sz="2250" b="1">
                <a:solidFill>
                  <a:srgbClr val="A35425"/>
                </a:solidFill>
              </a:rPr>
              <a:t>3,177 passed · 2 failed · 12 skipped (XML)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591DF-6268-43E6-B3E1-96CC7251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71875"/>
            <a:ext cx="1057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B556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The console reports 10 skipped; XML includes two more skipped entries in both trees. The same Picoweb tests fail. Human review, faculty approval and repository upload remain to be recorded.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0F1BE0-B736-46D9-8FB9-DE2C7A55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673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B556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Source: pinned PlantUML commit 149874a1bb2b64c42889d7178cb89f6647ac14bc; report and evidence in A17.</a:t>
            </a:r>
          </a:p>
        </p:txBody>
      </p:sp>
    </p:spTree>
    <p:extLst>
      <p:ext uri="{BB962C8B-B14F-4D97-AF65-F5344CB8AC3E}">
        <p14:creationId xmlns:p14="http://schemas.microsoft.com/office/powerpoint/2010/main" val="6066569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2026-10-11T16:40:41.2790000Z</dcterms:created>
  <dcterms:modified xsi:type="dcterms:W3CDTF">2026-10-11T16:40:41.2790000Z</dcterms:modified>
</coreProperties>
</file>